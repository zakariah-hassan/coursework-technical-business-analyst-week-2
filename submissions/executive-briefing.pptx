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bold r:id="rId16"/>
      <p:boldItalic r:id="rId17"/>
    </p:embeddedFont>
    <p:embeddedFont>
      <p:font typeface="JetBrains Mono Medium"/>
      <p:regular r:id="rId18"/>
      <p:bold r:id="rId19"/>
      <p:italic r:id="rId20"/>
      <p:boldItalic r:id="rId21"/>
    </p:embeddedFont>
    <p:embeddedFont>
      <p:font typeface="JetBrains Mono SemiBold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  <p:embeddedFont>
      <p:font typeface="JetBrains Mono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Medium-italic.fntdata"/><Relationship Id="rId22" Type="http://schemas.openxmlformats.org/officeDocument/2006/relationships/font" Target="fonts/JetBrainsMonoSemiBold-regular.fntdata"/><Relationship Id="rId21" Type="http://schemas.openxmlformats.org/officeDocument/2006/relationships/font" Target="fonts/JetBrainsMonoMedium-boldItalic.fntdata"/><Relationship Id="rId24" Type="http://schemas.openxmlformats.org/officeDocument/2006/relationships/font" Target="fonts/JetBrainsMonoSemiBold-italic.fntdata"/><Relationship Id="rId23" Type="http://schemas.openxmlformats.org/officeDocument/2006/relationships/font" Target="fonts/JetBrainsMon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JetBrainsMonoSemiBold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19" Type="http://schemas.openxmlformats.org/officeDocument/2006/relationships/font" Target="fonts/JetBrainsMonoMedium-bold.fntdata"/><Relationship Id="rId18" Type="http://schemas.openxmlformats.org/officeDocument/2006/relationships/font" Target="fonts/JetBrainsMon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4178ec23ffbfc47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4178ec23ffbfc47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4178ec23ffbfc47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4178ec23ffbfc47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64178ec23ffbfc47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64178ec23ffbfc4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4178ec23ffbfc47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64178ec23ffbfc47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4178ec23ffbfc47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4178ec23ffbfc47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64178ec23ffbfc47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h64178ec23ffbfc47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4178ec23ffbfc47_13_0)">
  <p:cSld name="Generated (h64178ec23ffbfc47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381000" y="381000"/>
              <a:ext cx="2686200" cy="285900"/>
              <a:chOff x="0" y="0"/>
              <a:chExt cx="2686200" cy="2859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19050"/>
                <a:ext cx="152400" cy="152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57150" y="76200"/>
                <a:ext cx="152400" cy="1524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 txBox="1"/>
              <p:nvPr/>
            </p:nvSpPr>
            <p:spPr>
              <a:xfrm>
                <a:off x="304800" y="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SMART-RECOVERY</a:t>
                </a:r>
                <a:endParaRPr b="1" sz="12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cxnSp>
          <p:nvCxnSpPr>
            <p:cNvPr id="62" name="Google Shape;62;p14"/>
            <p:cNvCxnSpPr/>
            <p:nvPr/>
          </p:nvCxnSpPr>
          <p:spPr>
            <a:xfrm>
              <a:off x="381000" y="1333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3" name="Google Shape;63;p14"/>
            <p:cNvGrpSpPr/>
            <p:nvPr/>
          </p:nvGrpSpPr>
          <p:grpSpPr>
            <a:xfrm>
              <a:off x="342900" y="1295400"/>
              <a:ext cx="76200" cy="76200"/>
              <a:chOff x="-38100" y="-38100"/>
              <a:chExt cx="76200" cy="76200"/>
            </a:xfrm>
          </p:grpSpPr>
          <p:cxnSp>
            <p:nvCxnSpPr>
              <p:cNvPr id="64" name="Google Shape;64;p14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6" name="Google Shape;66;p14"/>
            <p:cNvGrpSpPr/>
            <p:nvPr/>
          </p:nvGrpSpPr>
          <p:grpSpPr>
            <a:xfrm>
              <a:off x="8724900" y="1295400"/>
              <a:ext cx="76200" cy="76200"/>
              <a:chOff x="-38100" y="-38100"/>
              <a:chExt cx="76200" cy="76200"/>
            </a:xfrm>
          </p:grpSpPr>
          <p:cxnSp>
            <p:nvCxnSpPr>
              <p:cNvPr id="67" name="Google Shape;67;p14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9" name="Google Shape;69;p14"/>
          <p:cNvSpPr txBox="1"/>
          <p:nvPr/>
        </p:nvSpPr>
        <p:spPr>
          <a:xfrm>
            <a:off x="381000" y="1714500"/>
            <a:ext cx="8382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1 Smart-Recovery Portal</a:t>
            </a:r>
            <a:endParaRPr b="1" sz="3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Readiness Kit &amp; Executive Funding Briefing</a:t>
            </a:r>
            <a:endParaRPr b="0" sz="18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381000" y="3429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" name="Google Shape;71;p14"/>
          <p:cNvGrpSpPr/>
          <p:nvPr/>
        </p:nvGrpSpPr>
        <p:grpSpPr>
          <a:xfrm>
            <a:off x="342900" y="3390900"/>
            <a:ext cx="76200" cy="76200"/>
            <a:chOff x="-38100" y="-38100"/>
            <a:chExt cx="76200" cy="76200"/>
          </a:xfrm>
        </p:grpSpPr>
        <p:cxnSp>
          <p:nvCxnSpPr>
            <p:cNvPr id="72" name="Google Shape;72;p14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4" name="Google Shape;74;p14"/>
          <p:cNvGrpSpPr/>
          <p:nvPr/>
        </p:nvGrpSpPr>
        <p:grpSpPr>
          <a:xfrm>
            <a:off x="8724900" y="3390900"/>
            <a:ext cx="76200" cy="76200"/>
            <a:chOff x="-38100" y="-38100"/>
            <a:chExt cx="76200" cy="76200"/>
          </a:xfrm>
        </p:grpSpPr>
        <p:cxnSp>
          <p:nvCxnSpPr>
            <p:cNvPr id="75" name="Google Shape;75;p14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" name="Google Shape;77;p14"/>
          <p:cNvGrpSpPr/>
          <p:nvPr/>
        </p:nvGrpSpPr>
        <p:grpSpPr>
          <a:xfrm>
            <a:off x="381000" y="3667125"/>
            <a:ext cx="4953000" cy="904800"/>
            <a:chOff x="0" y="0"/>
            <a:chExt cx="4953000" cy="9048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4953000" cy="9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0"/>
              <a:ext cx="38100" cy="904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228600" y="171450"/>
              <a:ext cx="457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PRESENTER</a:t>
              </a:r>
              <a:endParaRPr b="0" sz="1000">
                <a:solidFill>
                  <a:srgbClr val="4755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Business Analyst / Product Delivery Team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5524500" y="3667125"/>
            <a:ext cx="3238500" cy="904800"/>
            <a:chOff x="0" y="0"/>
            <a:chExt cx="3238500" cy="904800"/>
          </a:xfrm>
        </p:grpSpPr>
        <p:sp>
          <p:nvSpPr>
            <p:cNvPr id="82" name="Google Shape;82;p14"/>
            <p:cNvSpPr/>
            <p:nvPr/>
          </p:nvSpPr>
          <p:spPr>
            <a:xfrm>
              <a:off x="0" y="0"/>
              <a:ext cx="3238500" cy="9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0" y="0"/>
              <a:ext cx="38100" cy="9048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228600" y="17145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DATE</a:t>
              </a:r>
              <a:endParaRPr b="0" sz="1000">
                <a:solidFill>
                  <a:srgbClr val="4755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October 2026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5"/>
          <p:cNvGrpSpPr/>
          <p:nvPr/>
        </p:nvGrpSpPr>
        <p:grpSpPr>
          <a:xfrm>
            <a:off x="6381750" y="333375"/>
            <a:ext cx="2400300" cy="285900"/>
            <a:chOff x="0" y="0"/>
            <a:chExt cx="2400300" cy="2859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19050"/>
              <a:ext cx="152400" cy="152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57150" y="76200"/>
              <a:ext cx="152400" cy="152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304800" y="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SMART-RECOVERY</a:t>
              </a:r>
              <a:endParaRPr b="1" sz="11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cxnSp>
        <p:nvCxnSpPr>
          <p:cNvPr id="95" name="Google Shape;95;p15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15"/>
          <p:cNvGrpSpPr/>
          <p:nvPr/>
        </p:nvGrpSpPr>
        <p:grpSpPr>
          <a:xfrm>
            <a:off x="342900" y="723900"/>
            <a:ext cx="76200" cy="76200"/>
            <a:chOff x="-38100" y="-38100"/>
            <a:chExt cx="76200" cy="7620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9" name="Google Shape;99;p15"/>
          <p:cNvGrpSpPr/>
          <p:nvPr/>
        </p:nvGrpSpPr>
        <p:grpSpPr>
          <a:xfrm>
            <a:off x="8724900" y="723900"/>
            <a:ext cx="76200" cy="76200"/>
            <a:chOff x="-38100" y="-38100"/>
            <a:chExt cx="76200" cy="76200"/>
          </a:xfrm>
        </p:grpSpPr>
        <p:cxnSp>
          <p:nvCxnSpPr>
            <p:cNvPr id="100" name="Google Shape;100;p15"/>
            <p:cNvCxnSpPr/>
            <p:nvPr/>
          </p:nvCxnSpPr>
          <p:spPr>
            <a:xfrm>
              <a:off x="-38100" y="0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15"/>
            <p:cNvCxnSpPr/>
            <p:nvPr/>
          </p:nvCxnSpPr>
          <p:spPr>
            <a:xfrm>
              <a:off x="0" y="-38100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15"/>
          <p:cNvSpPr txBox="1"/>
          <p:nvPr/>
        </p:nvSpPr>
        <p:spPr>
          <a:xfrm>
            <a:off x="381000" y="285750"/>
            <a:ext cx="571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Executive Board Recommendation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>
            <a:off x="381000" y="904875"/>
            <a:ext cx="8382000" cy="619200"/>
            <a:chOff x="0" y="0"/>
            <a:chExt cx="8382000" cy="6192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8382000" cy="6192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0" y="0"/>
              <a:ext cx="57300" cy="6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90500" y="76200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RECOMMENDATION: APPROVE £130,000 PHASE 1 FUNDING IMMEDIATELY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Unlocks </a:t>
              </a:r>
              <a:r>
                <a:rPr b="1" lang="en" sz="10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£1.48M Net 12-Mo. Value</a:t>
              </a: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 •  Deflects </a:t>
              </a:r>
              <a:r>
                <a:rPr b="1" lang="en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38,000 Routine Cases</a:t>
              </a: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 •  Zero Legacy DB Overhaul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381000" y="1638300"/>
            <a:ext cx="2667000" cy="3314700"/>
            <a:chOff x="0" y="0"/>
            <a:chExt cx="2667000" cy="33147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2667000" cy="331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190500" y="152400"/>
              <a:ext cx="22860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Focused Scope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INCLUDED CORE FEATURES</a:t>
              </a:r>
              <a:endParaRPr b="0" sz="900">
                <a:solidFill>
                  <a:srgbClr val="2563E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Identity &amp; 2FA: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SMS OTP verification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Account &amp; Payment Engine: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Real-time balance &amp; schedules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P2P Capture: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Binding digital commitments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 Workspace: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Interaction history &amp; flags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D97706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STRICT EXCLUSIONS</a:t>
              </a:r>
              <a:endParaRPr b="0" sz="850">
                <a:solidFill>
                  <a:srgbClr val="D97706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Bespoke negotiations, forbearance, automated legal litigation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15"/>
          <p:cNvGrpSpPr/>
          <p:nvPr/>
        </p:nvGrpSpPr>
        <p:grpSpPr>
          <a:xfrm>
            <a:off x="3238500" y="1638300"/>
            <a:ext cx="2667000" cy="3314700"/>
            <a:chOff x="0" y="0"/>
            <a:chExt cx="2667000" cy="3314700"/>
          </a:xfrm>
        </p:grpSpPr>
        <p:sp>
          <p:nvSpPr>
            <p:cNvPr id="112" name="Google Shape;112;p15"/>
            <p:cNvSpPr/>
            <p:nvPr/>
          </p:nvSpPr>
          <p:spPr>
            <a:xfrm>
              <a:off x="0" y="0"/>
              <a:ext cx="2667000" cy="331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190500" y="152400"/>
              <a:ext cx="22860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Value &amp; Urgency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96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£1.57M</a:t>
              </a:r>
              <a:endParaRPr b="1" sz="2400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GROSS ANNUAL VALUE</a:t>
              </a:r>
              <a:endParaRPr b="0" sz="850">
                <a:solidFill>
                  <a:srgbClr val="475569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295275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&lt; 1.1 Month Payback: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Rapid capital return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38,000 Cases Deflected: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38% total automated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Reclaims 2.86 Hrs/Rep/Day: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Eliminates re-keying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Stops £500k/Yr Loss: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Removes tracking friction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p15"/>
          <p:cNvGrpSpPr/>
          <p:nvPr/>
        </p:nvGrpSpPr>
        <p:grpSpPr>
          <a:xfrm>
            <a:off x="6096000" y="1638300"/>
            <a:ext cx="2667000" cy="3314700"/>
            <a:chOff x="0" y="0"/>
            <a:chExt cx="2667000" cy="33147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2667000" cy="331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90500" y="152400"/>
              <a:ext cx="22860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Managed Delivery Risks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DE-RISKED ARCHITECTURE</a:t>
              </a:r>
              <a:endParaRPr b="0" sz="900">
                <a:solidFill>
                  <a:srgbClr val="2563EB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REST API Wrapper: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Bypasses DB schema risk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Instant Outreach Freeze: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Auto-suppresses dialer on hardship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Human Empathy Routing: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Direct exception handoff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334155"/>
                </a:buClr>
                <a:buSzPts val="1050"/>
                <a:buFont typeface="Inter"/>
                <a:buChar char="●"/>
              </a:pP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12-Sprint Delivery:</a:t>
              </a:r>
              <a:r>
                <a:rPr b="0" lang="en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21 sized user stories</a:t>
              </a:r>
              <a:endParaRPr b="0" sz="10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6"/>
            <p:cNvCxnSpPr/>
            <p:nvPr/>
          </p:nvCxnSpPr>
          <p:spPr>
            <a:xfrm>
              <a:off x="381000" y="571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6"/>
            <p:cNvSpPr/>
            <p:nvPr/>
          </p:nvSpPr>
          <p:spPr>
            <a:xfrm>
              <a:off x="8610600" y="209550"/>
              <a:ext cx="152400" cy="152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381000" y="19050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To-Be Process Architecture &amp; Exception Safeguards</a:t>
              </a:r>
              <a:endParaRPr b="0" sz="16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381000" y="714375"/>
            <a:ext cx="8382000" cy="4048125"/>
            <a:chOff x="0" y="0"/>
            <a:chExt cx="8382000" cy="4048125"/>
          </a:xfrm>
        </p:grpSpPr>
        <p:grpSp>
          <p:nvGrpSpPr>
            <p:cNvPr id="129" name="Google Shape;129;p16"/>
            <p:cNvGrpSpPr/>
            <p:nvPr/>
          </p:nvGrpSpPr>
          <p:grpSpPr>
            <a:xfrm>
              <a:off x="0" y="0"/>
              <a:ext cx="8382000" cy="933600"/>
              <a:chOff x="0" y="0"/>
              <a:chExt cx="8382000" cy="9336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0" y="0"/>
                <a:ext cx="8382000" cy="933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0" y="0"/>
                <a:ext cx="8382000" cy="2286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 txBox="1"/>
              <p:nvPr/>
            </p:nvSpPr>
            <p:spPr>
              <a:xfrm>
                <a:off x="114300" y="28575"/>
                <a:ext cx="8096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1. CUSTOMER SELF-SERVICE SWIMLANE</a:t>
                </a:r>
                <a:endParaRPr b="0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grpSp>
            <p:nvGrpSpPr>
              <p:cNvPr id="133" name="Google Shape;133;p16"/>
              <p:cNvGrpSpPr/>
              <p:nvPr/>
            </p:nvGrpSpPr>
            <p:grpSpPr>
              <a:xfrm>
                <a:off x="152400" y="304800"/>
                <a:ext cx="1619100" cy="533400"/>
                <a:chOff x="0" y="0"/>
                <a:chExt cx="1619100" cy="533400"/>
              </a:xfrm>
            </p:grpSpPr>
            <p:sp>
              <p:nvSpPr>
                <p:cNvPr id="134" name="Google Shape;134;p16"/>
                <p:cNvSpPr/>
                <p:nvPr/>
              </p:nvSpPr>
              <p:spPr>
                <a:xfrm>
                  <a:off x="0" y="0"/>
                  <a:ext cx="1619100" cy="533400"/>
                </a:xfrm>
                <a:prstGeom prst="roundRect">
                  <a:avLst>
                    <a:gd fmla="val 3571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0F172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16"/>
                <p:cNvSpPr txBox="1"/>
                <p:nvPr/>
              </p:nvSpPr>
              <p:spPr>
                <a:xfrm>
                  <a:off x="76200" y="57150"/>
                  <a:ext cx="1467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2FA Authentication</a:t>
                  </a:r>
                  <a:endParaRPr b="0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00">
                      <a:solidFill>
                        <a:srgbClr val="2563EB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DEP-04</a:t>
                  </a:r>
                  <a:endParaRPr b="0" sz="800">
                    <a:solidFill>
                      <a:srgbClr val="2563EB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  <p:grpSp>
            <p:nvGrpSpPr>
              <p:cNvPr id="136" name="Google Shape;136;p16"/>
              <p:cNvGrpSpPr/>
              <p:nvPr/>
            </p:nvGrpSpPr>
            <p:grpSpPr>
              <a:xfrm>
                <a:off x="2190750" y="304800"/>
                <a:ext cx="1619100" cy="533400"/>
                <a:chOff x="0" y="0"/>
                <a:chExt cx="1619100" cy="533400"/>
              </a:xfrm>
            </p:grpSpPr>
            <p:sp>
              <p:nvSpPr>
                <p:cNvPr id="137" name="Google Shape;137;p16"/>
                <p:cNvSpPr/>
                <p:nvPr/>
              </p:nvSpPr>
              <p:spPr>
                <a:xfrm>
                  <a:off x="0" y="0"/>
                  <a:ext cx="1619100" cy="533400"/>
                </a:xfrm>
                <a:prstGeom prst="roundRect">
                  <a:avLst>
                    <a:gd fmla="val 3571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0F172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16"/>
                <p:cNvSpPr txBox="1"/>
                <p:nvPr/>
              </p:nvSpPr>
              <p:spPr>
                <a:xfrm>
                  <a:off x="76200" y="57150"/>
                  <a:ext cx="1467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3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Account Summary View</a:t>
                  </a:r>
                  <a:endParaRPr b="0" sz="93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680">
                      <a:solidFill>
                        <a:srgbClr val="2563EB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SO-01</a:t>
                  </a:r>
                  <a:endParaRPr b="0" sz="680">
                    <a:solidFill>
                      <a:srgbClr val="2563EB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  <p:pic>
            <p:nvPicPr>
              <p:cNvPr id="139" name="Google Shape;139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810000" y="400050"/>
                <a:ext cx="452400" cy="180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" name="Google Shape;140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10000" y="561975"/>
                <a:ext cx="452400" cy="1809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41" name="Google Shape;141;p16"/>
              <p:cNvGrpSpPr/>
              <p:nvPr/>
            </p:nvGrpSpPr>
            <p:grpSpPr>
              <a:xfrm>
                <a:off x="4286250" y="266700"/>
                <a:ext cx="2000100" cy="324000"/>
                <a:chOff x="0" y="0"/>
                <a:chExt cx="2000100" cy="324000"/>
              </a:xfrm>
            </p:grpSpPr>
            <p:sp>
              <p:nvSpPr>
                <p:cNvPr id="142" name="Google Shape;142;p16"/>
                <p:cNvSpPr/>
                <p:nvPr/>
              </p:nvSpPr>
              <p:spPr>
                <a:xfrm>
                  <a:off x="0" y="0"/>
                  <a:ext cx="2000100" cy="324000"/>
                </a:xfrm>
                <a:prstGeom prst="roundRect">
                  <a:avLst>
                    <a:gd fmla="val 588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16"/>
                <p:cNvSpPr txBox="1"/>
                <p:nvPr/>
              </p:nvSpPr>
              <p:spPr>
                <a:xfrm>
                  <a:off x="57150" y="19050"/>
                  <a:ext cx="18861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P2P / Payment Plan Selection</a:t>
                  </a:r>
                  <a:endParaRPr b="0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144" name="Google Shape;144;p16"/>
              <p:cNvGrpSpPr/>
              <p:nvPr/>
            </p:nvGrpSpPr>
            <p:grpSpPr>
              <a:xfrm>
                <a:off x="4286250" y="609600"/>
                <a:ext cx="2000100" cy="324000"/>
                <a:chOff x="0" y="0"/>
                <a:chExt cx="2000100" cy="324000"/>
              </a:xfrm>
            </p:grpSpPr>
            <p:sp>
              <p:nvSpPr>
                <p:cNvPr id="145" name="Google Shape;145;p16"/>
                <p:cNvSpPr/>
                <p:nvPr/>
              </p:nvSpPr>
              <p:spPr>
                <a:xfrm>
                  <a:off x="0" y="0"/>
                  <a:ext cx="2000100" cy="324000"/>
                </a:xfrm>
                <a:prstGeom prst="roundRect">
                  <a:avLst>
                    <a:gd fmla="val 5882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D9770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16"/>
                <p:cNvSpPr txBox="1"/>
                <p:nvPr/>
              </p:nvSpPr>
              <p:spPr>
                <a:xfrm>
                  <a:off x="57150" y="19050"/>
                  <a:ext cx="18861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D9770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Dispute &amp; Hardship Intake</a:t>
                  </a:r>
                  <a:endParaRPr b="0" sz="950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  <p:grpSp>
          <p:nvGrpSpPr>
            <p:cNvPr id="147" name="Google Shape;147;p16"/>
            <p:cNvGrpSpPr/>
            <p:nvPr/>
          </p:nvGrpSpPr>
          <p:grpSpPr>
            <a:xfrm>
              <a:off x="0" y="1028700"/>
              <a:ext cx="8382000" cy="838200"/>
              <a:chOff x="0" y="0"/>
              <a:chExt cx="8382000" cy="838200"/>
            </a:xfrm>
          </p:grpSpPr>
          <p:sp>
            <p:nvSpPr>
              <p:cNvPr id="148" name="Google Shape;148;p16"/>
              <p:cNvSpPr/>
              <p:nvPr/>
            </p:nvSpPr>
            <p:spPr>
              <a:xfrm>
                <a:off x="0" y="0"/>
                <a:ext cx="8382000" cy="838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0" y="0"/>
                <a:ext cx="8382000" cy="2286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6"/>
              <p:cNvSpPr txBox="1"/>
              <p:nvPr/>
            </p:nvSpPr>
            <p:spPr>
              <a:xfrm>
                <a:off x="114300" y="28575"/>
                <a:ext cx="8096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2. AUTOMATED ENGINE SWIMLANE</a:t>
                </a:r>
                <a:endParaRPr b="0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grpSp>
            <p:nvGrpSpPr>
              <p:cNvPr id="151" name="Google Shape;151;p16"/>
              <p:cNvGrpSpPr/>
              <p:nvPr/>
            </p:nvGrpSpPr>
            <p:grpSpPr>
              <a:xfrm>
                <a:off x="152400" y="304800"/>
                <a:ext cx="1905000" cy="438300"/>
                <a:chOff x="0" y="0"/>
                <a:chExt cx="1905000" cy="438300"/>
              </a:xfrm>
            </p:grpSpPr>
            <p:sp>
              <p:nvSpPr>
                <p:cNvPr id="152" name="Google Shape;152;p16"/>
                <p:cNvSpPr/>
                <p:nvPr/>
              </p:nvSpPr>
              <p:spPr>
                <a:xfrm>
                  <a:off x="0" y="0"/>
                  <a:ext cx="19050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EFF6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16"/>
                <p:cNvSpPr txBox="1"/>
                <p:nvPr/>
              </p:nvSpPr>
              <p:spPr>
                <a:xfrm>
                  <a:off x="76200" y="38100"/>
                  <a:ext cx="17526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2563E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Set outreach_suppression</a:t>
                  </a:r>
                  <a:endParaRPr b="0" sz="9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2563EB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VALUE = TRUE</a:t>
                  </a:r>
                  <a:endParaRPr b="0" sz="750">
                    <a:solidFill>
                      <a:srgbClr val="2563EB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  <p:grpSp>
            <p:nvGrpSpPr>
              <p:cNvPr id="154" name="Google Shape;154;p16"/>
              <p:cNvGrpSpPr/>
              <p:nvPr/>
            </p:nvGrpSpPr>
            <p:grpSpPr>
              <a:xfrm>
                <a:off x="2476500" y="304800"/>
                <a:ext cx="1714500" cy="438300"/>
                <a:chOff x="0" y="0"/>
                <a:chExt cx="1714500" cy="438300"/>
              </a:xfrm>
            </p:grpSpPr>
            <p:sp>
              <p:nvSpPr>
                <p:cNvPr id="155" name="Google Shape;155;p16"/>
                <p:cNvSpPr/>
                <p:nvPr/>
              </p:nvSpPr>
              <p:spPr>
                <a:xfrm>
                  <a:off x="0" y="0"/>
                  <a:ext cx="17145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0F172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6"/>
                <p:cNvSpPr txBox="1"/>
                <p:nvPr/>
              </p:nvSpPr>
              <p:spPr>
                <a:xfrm>
                  <a:off x="76200" y="38100"/>
                  <a:ext cx="15621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Sync Core DB Flags</a:t>
                  </a:r>
                  <a:endParaRPr b="0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00">
                      <a:solidFill>
                        <a:srgbClr val="2563EB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DEP-03</a:t>
                  </a:r>
                  <a:endParaRPr b="0" sz="800">
                    <a:solidFill>
                      <a:srgbClr val="2563EB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</p:grpSp>
        <p:grpSp>
          <p:nvGrpSpPr>
            <p:cNvPr id="157" name="Google Shape;157;p16"/>
            <p:cNvGrpSpPr/>
            <p:nvPr/>
          </p:nvGrpSpPr>
          <p:grpSpPr>
            <a:xfrm>
              <a:off x="0" y="1962150"/>
              <a:ext cx="8382000" cy="838200"/>
              <a:chOff x="0" y="0"/>
              <a:chExt cx="8382000" cy="838200"/>
            </a:xfrm>
          </p:grpSpPr>
          <p:sp>
            <p:nvSpPr>
              <p:cNvPr id="158" name="Google Shape;158;p16"/>
              <p:cNvSpPr/>
              <p:nvPr/>
            </p:nvSpPr>
            <p:spPr>
              <a:xfrm>
                <a:off x="0" y="0"/>
                <a:ext cx="8382000" cy="838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0" y="0"/>
                <a:ext cx="8382000" cy="2286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6"/>
              <p:cNvSpPr txBox="1"/>
              <p:nvPr/>
            </p:nvSpPr>
            <p:spPr>
              <a:xfrm>
                <a:off x="114300" y="28575"/>
                <a:ext cx="8096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3. FRONTLINE OPERATIONS SWIMLANE</a:t>
                </a:r>
                <a:endParaRPr b="0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grpSp>
            <p:nvGrpSpPr>
              <p:cNvPr id="161" name="Google Shape;161;p16"/>
              <p:cNvGrpSpPr/>
              <p:nvPr/>
            </p:nvGrpSpPr>
            <p:grpSpPr>
              <a:xfrm>
                <a:off x="152400" y="304800"/>
                <a:ext cx="2000100" cy="438300"/>
                <a:chOff x="0" y="0"/>
                <a:chExt cx="2000100" cy="438300"/>
              </a:xfrm>
            </p:grpSpPr>
            <p:sp>
              <p:nvSpPr>
                <p:cNvPr id="162" name="Google Shape;162;p16"/>
                <p:cNvSpPr/>
                <p:nvPr/>
              </p:nvSpPr>
              <p:spPr>
                <a:xfrm>
                  <a:off x="0" y="0"/>
                  <a:ext cx="20001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FEF3C7"/>
                </a:solidFill>
                <a:ln cap="flat" cmpd="sng" w="14300">
                  <a:solidFill>
                    <a:srgbClr val="D9770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" name="Google Shape;163;p16"/>
                <p:cNvSpPr txBox="1"/>
                <p:nvPr/>
              </p:nvSpPr>
              <p:spPr>
                <a:xfrm>
                  <a:off x="76200" y="38100"/>
                  <a:ext cx="18480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Vulnerability Specialist Queue</a:t>
                  </a:r>
                  <a:endParaRPr b="0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00">
                      <a:solidFill>
                        <a:srgbClr val="D97706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24H SLA GUARANTEE</a:t>
                  </a:r>
                  <a:endParaRPr b="0" sz="800">
                    <a:solidFill>
                      <a:srgbClr val="D97706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  <p:grpSp>
            <p:nvGrpSpPr>
              <p:cNvPr id="164" name="Google Shape;164;p16"/>
              <p:cNvGrpSpPr/>
              <p:nvPr/>
            </p:nvGrpSpPr>
            <p:grpSpPr>
              <a:xfrm>
                <a:off x="2571750" y="304800"/>
                <a:ext cx="1809600" cy="438300"/>
                <a:chOff x="0" y="0"/>
                <a:chExt cx="1809600" cy="438300"/>
              </a:xfrm>
            </p:grpSpPr>
            <p:sp>
              <p:nvSpPr>
                <p:cNvPr id="165" name="Google Shape;165;p16"/>
                <p:cNvSpPr/>
                <p:nvPr/>
              </p:nvSpPr>
              <p:spPr>
                <a:xfrm>
                  <a:off x="0" y="0"/>
                  <a:ext cx="18096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F8FAFC"/>
                </a:solidFill>
                <a:ln cap="flat" cmpd="sng" w="14300">
                  <a:solidFill>
                    <a:srgbClr val="0F172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" name="Google Shape;166;p16"/>
                <p:cNvSpPr txBox="1"/>
                <p:nvPr/>
              </p:nvSpPr>
              <p:spPr>
                <a:xfrm>
                  <a:off x="76200" y="38100"/>
                  <a:ext cx="16575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35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Manager Escalation Queue</a:t>
                  </a:r>
                  <a:endParaRPr b="0" sz="93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680">
                      <a:solidFill>
                        <a:srgbClr val="2563EB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TIER-2 REVIEW</a:t>
                  </a:r>
                  <a:endParaRPr b="0" sz="680">
                    <a:solidFill>
                      <a:srgbClr val="2563EB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</p:grpSp>
        <p:grpSp>
          <p:nvGrpSpPr>
            <p:cNvPr id="167" name="Google Shape;167;p16"/>
            <p:cNvGrpSpPr/>
            <p:nvPr/>
          </p:nvGrpSpPr>
          <p:grpSpPr>
            <a:xfrm>
              <a:off x="0" y="2895600"/>
              <a:ext cx="8382000" cy="838200"/>
              <a:chOff x="0" y="0"/>
              <a:chExt cx="8382000" cy="838200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0" y="0"/>
                <a:ext cx="8382000" cy="8382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0" y="0"/>
                <a:ext cx="8382000" cy="2286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6"/>
              <p:cNvSpPr txBox="1"/>
              <p:nvPr/>
            </p:nvSpPr>
            <p:spPr>
              <a:xfrm>
                <a:off x="114300" y="28575"/>
                <a:ext cx="8096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FFFFFF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rPr>
                  <a:t>4. COMPLIANCE &amp; LEGAL SWIMLANE</a:t>
                </a:r>
                <a:endParaRPr b="0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endParaRPr>
              </a:p>
            </p:txBody>
          </p:sp>
          <p:grpSp>
            <p:nvGrpSpPr>
              <p:cNvPr id="171" name="Google Shape;171;p16"/>
              <p:cNvGrpSpPr/>
              <p:nvPr/>
            </p:nvGrpSpPr>
            <p:grpSpPr>
              <a:xfrm>
                <a:off x="152400" y="304800"/>
                <a:ext cx="2000100" cy="438300"/>
                <a:chOff x="0" y="0"/>
                <a:chExt cx="2000100" cy="438300"/>
              </a:xfrm>
            </p:grpSpPr>
            <p:sp>
              <p:nvSpPr>
                <p:cNvPr id="172" name="Google Shape;172;p16"/>
                <p:cNvSpPr/>
                <p:nvPr/>
              </p:nvSpPr>
              <p:spPr>
                <a:xfrm>
                  <a:off x="0" y="0"/>
                  <a:ext cx="20001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FEF3C7"/>
                </a:solidFill>
                <a:ln cap="flat" cmpd="sng" w="14300">
                  <a:solidFill>
                    <a:srgbClr val="D9770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" name="Google Shape;173;p16"/>
                <p:cNvSpPr txBox="1"/>
                <p:nvPr/>
              </p:nvSpPr>
              <p:spPr>
                <a:xfrm>
                  <a:off x="76200" y="38100"/>
                  <a:ext cx="18480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Dispute Compliance Review</a:t>
                  </a:r>
                  <a:endParaRPr b="0" sz="95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00">
                      <a:solidFill>
                        <a:srgbClr val="D97706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48H SLA GUARANTEE</a:t>
                  </a:r>
                  <a:endParaRPr b="0" sz="800">
                    <a:solidFill>
                      <a:srgbClr val="D97706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  <p:grpSp>
            <p:nvGrpSpPr>
              <p:cNvPr id="174" name="Google Shape;174;p16"/>
              <p:cNvGrpSpPr/>
              <p:nvPr/>
            </p:nvGrpSpPr>
            <p:grpSpPr>
              <a:xfrm>
                <a:off x="2571750" y="304800"/>
                <a:ext cx="2190900" cy="438300"/>
                <a:chOff x="0" y="0"/>
                <a:chExt cx="2190900" cy="438300"/>
              </a:xfrm>
            </p:grpSpPr>
            <p:sp>
              <p:nvSpPr>
                <p:cNvPr id="175" name="Google Shape;175;p16"/>
                <p:cNvSpPr/>
                <p:nvPr/>
              </p:nvSpPr>
              <p:spPr>
                <a:xfrm>
                  <a:off x="0" y="0"/>
                  <a:ext cx="2190900" cy="438300"/>
                </a:xfrm>
                <a:prstGeom prst="roundRect">
                  <a:avLst>
                    <a:gd fmla="val 4347" name="adj"/>
                  </a:avLst>
                </a:prstGeom>
                <a:solidFill>
                  <a:srgbClr val="ECFDF5"/>
                </a:solidFill>
                <a:ln cap="flat" cmpd="sng" w="14300">
                  <a:solidFill>
                    <a:srgbClr val="0596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" name="Google Shape;176;p16"/>
                <p:cNvSpPr txBox="1"/>
                <p:nvPr/>
              </p:nvSpPr>
              <p:spPr>
                <a:xfrm>
                  <a:off x="76200" y="38100"/>
                  <a:ext cx="2038500" cy="3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059669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Manager Review &amp; Legal Handoff</a:t>
                  </a:r>
                  <a:endParaRPr b="0" sz="950">
                    <a:solidFill>
                      <a:srgbClr val="0596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0" lang="en" sz="800">
                      <a:solidFill>
                        <a:srgbClr val="059669"/>
                      </a:solidFill>
                      <a:latin typeface="JetBrains Mono SemiBold"/>
                      <a:ea typeface="JetBrains Mono SemiBold"/>
                      <a:cs typeface="JetBrains Mono SemiBold"/>
                      <a:sym typeface="JetBrains Mono SemiBold"/>
                    </a:rPr>
                    <a:t>AS-IS LEGAL HANDOFF</a:t>
                  </a:r>
                  <a:endParaRPr b="0" sz="800">
                    <a:solidFill>
                      <a:srgbClr val="059669"/>
                    </a:solidFill>
                    <a:latin typeface="JetBrains Mono SemiBold"/>
                    <a:ea typeface="JetBrains Mono SemiBold"/>
                    <a:cs typeface="JetBrains Mono SemiBold"/>
                    <a:sym typeface="JetBrains Mono SemiBold"/>
                  </a:endParaRPr>
                </a:p>
              </p:txBody>
            </p:sp>
          </p:grpSp>
        </p:grpSp>
        <p:grpSp>
          <p:nvGrpSpPr>
            <p:cNvPr id="177" name="Google Shape;177;p16"/>
            <p:cNvGrpSpPr/>
            <p:nvPr/>
          </p:nvGrpSpPr>
          <p:grpSpPr>
            <a:xfrm>
              <a:off x="0" y="3829050"/>
              <a:ext cx="8382000" cy="219075"/>
              <a:chOff x="0" y="0"/>
              <a:chExt cx="8382000" cy="219075"/>
            </a:xfrm>
          </p:grpSpPr>
          <p:cxnSp>
            <p:nvCxnSpPr>
              <p:cNvPr id="178" name="Google Shape;178;p16"/>
              <p:cNvCxnSpPr/>
              <p:nvPr/>
            </p:nvCxnSpPr>
            <p:spPr>
              <a:xfrm>
                <a:off x="0" y="0"/>
                <a:ext cx="8382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9" name="Google Shape;179;p16"/>
              <p:cNvSpPr/>
              <p:nvPr/>
            </p:nvSpPr>
            <p:spPr>
              <a:xfrm>
                <a:off x="0" y="76200"/>
                <a:ext cx="95400" cy="95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6"/>
              <p:cNvSpPr txBox="1"/>
              <p:nvPr/>
            </p:nvSpPr>
            <p:spPr>
              <a:xfrm>
                <a:off x="152400" y="28575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75569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Automated Trigger</a:t>
                </a:r>
                <a:endParaRPr b="0" sz="750">
                  <a:solidFill>
                    <a:srgbClr val="4755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  <p:sp>
            <p:nvSpPr>
              <p:cNvPr id="181" name="Google Shape;181;p16"/>
              <p:cNvSpPr/>
              <p:nvPr/>
            </p:nvSpPr>
            <p:spPr>
              <a:xfrm>
                <a:off x="1905000" y="76200"/>
                <a:ext cx="95400" cy="95400"/>
              </a:xfrm>
              <a:prstGeom prst="rect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6"/>
              <p:cNvSpPr txBox="1"/>
              <p:nvPr/>
            </p:nvSpPr>
            <p:spPr>
              <a:xfrm>
                <a:off x="2057400" y="28575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D97706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Exception / SLA Pathway</a:t>
                </a:r>
                <a:endParaRPr b="0" sz="750">
                  <a:solidFill>
                    <a:srgbClr val="D9770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>
                <a:off x="4000500" y="76200"/>
                <a:ext cx="95400" cy="95400"/>
              </a:xfrm>
              <a:prstGeom prst="rect">
                <a:avLst/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 txBox="1"/>
              <p:nvPr/>
            </p:nvSpPr>
            <p:spPr>
              <a:xfrm>
                <a:off x="4152900" y="28575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059669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Final Compliance Exit</a:t>
                </a:r>
                <a:endParaRPr b="0" sz="750">
                  <a:solidFill>
                    <a:srgbClr val="0596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0" name="Google Shape;190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2" name="Google Shape;192;p17"/>
            <p:cNvGrpSpPr/>
            <p:nvPr/>
          </p:nvGrpSpPr>
          <p:grpSpPr>
            <a:xfrm>
              <a:off x="6381750" y="381000"/>
              <a:ext cx="2686200" cy="285900"/>
              <a:chOff x="0" y="0"/>
              <a:chExt cx="2686200" cy="285900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0" y="19050"/>
                <a:ext cx="152400" cy="152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57150" y="76200"/>
                <a:ext cx="152400" cy="1524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7"/>
              <p:cNvSpPr txBox="1"/>
              <p:nvPr/>
            </p:nvSpPr>
            <p:spPr>
              <a:xfrm>
                <a:off x="304800" y="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SMART-RECOVERY</a:t>
                </a:r>
                <a:endParaRPr b="1" sz="12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cxnSp>
          <p:nvCxnSpPr>
            <p:cNvPr id="196" name="Google Shape;196;p17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7" name="Google Shape;197;p17"/>
            <p:cNvGrpSpPr/>
            <p:nvPr/>
          </p:nvGrpSpPr>
          <p:grpSpPr>
            <a:xfrm>
              <a:off x="342900" y="914400"/>
              <a:ext cx="76200" cy="76200"/>
              <a:chOff x="-38100" y="-38100"/>
              <a:chExt cx="76200" cy="76200"/>
            </a:xfrm>
          </p:grpSpPr>
          <p:cxnSp>
            <p:nvCxnSpPr>
              <p:cNvPr id="198" name="Google Shape;198;p1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" name="Google Shape;199;p1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00" name="Google Shape;200;p17"/>
            <p:cNvGrpSpPr/>
            <p:nvPr/>
          </p:nvGrpSpPr>
          <p:grpSpPr>
            <a:xfrm>
              <a:off x="8724900" y="914400"/>
              <a:ext cx="76200" cy="76200"/>
              <a:chOff x="-38100" y="-38100"/>
              <a:chExt cx="76200" cy="76200"/>
            </a:xfrm>
          </p:grpSpPr>
          <p:cxnSp>
            <p:nvCxnSpPr>
              <p:cNvPr id="201" name="Google Shape;201;p17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7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03" name="Google Shape;203;p17"/>
            <p:cNvSpPr txBox="1"/>
            <p:nvPr/>
          </p:nvSpPr>
          <p:spPr>
            <a:xfrm>
              <a:off x="381000" y="333375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4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 1 Backlog Sizing &amp; Epic Distribution</a:t>
              </a:r>
              <a:endParaRPr b="1" sz="204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21 USER STORIES TOTAL</a:t>
              </a:r>
              <a:endParaRPr b="0" sz="85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381000" y="1143000"/>
            <a:ext cx="4381500" cy="3048075"/>
            <a:chOff x="0" y="0"/>
            <a:chExt cx="4381500" cy="3048075"/>
          </a:xfrm>
        </p:grpSpPr>
        <p:sp>
          <p:nvSpPr>
            <p:cNvPr id="205" name="Google Shape;205;p17"/>
            <p:cNvSpPr txBox="1"/>
            <p:nvPr/>
          </p:nvSpPr>
          <p:spPr>
            <a:xfrm>
              <a:off x="0" y="0"/>
              <a:ext cx="438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Backlog Sizing Breakdown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285750"/>
              <a:ext cx="4381500" cy="2859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114300" y="28575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PRIORITY</a:t>
              </a:r>
              <a:endParaRPr b="0" sz="9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1333500" y="285750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STORIES</a:t>
              </a:r>
              <a:endParaRPr b="0" sz="9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2095500" y="285750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POINTS</a:t>
              </a:r>
              <a:endParaRPr b="0" sz="9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2857500" y="285750"/>
              <a:ext cx="66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HOURS</a:t>
              </a:r>
              <a:endParaRPr b="0" sz="9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3619500" y="285750"/>
              <a:ext cx="647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% SCOPE</a:t>
              </a:r>
              <a:endParaRPr b="0" sz="9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571500"/>
              <a:ext cx="4381500" cy="61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571500"/>
              <a:ext cx="38100" cy="6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114300" y="571500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Must-Have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2563E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CRITICAL PATH</a:t>
              </a:r>
              <a:endParaRPr b="0" sz="800">
                <a:solidFill>
                  <a:srgbClr val="2563E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1333500" y="57150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14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2095500" y="57150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70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2857500" y="57150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280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3619500" y="571500"/>
              <a:ext cx="64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80.5%</a:t>
              </a:r>
              <a:endParaRPr b="1" sz="15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0" y="1190625"/>
              <a:ext cx="4381500" cy="61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0" y="1190625"/>
              <a:ext cx="38100" cy="619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114300" y="1190625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Should-Have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0596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HIGH VALUE</a:t>
              </a:r>
              <a:endParaRPr b="0" sz="800">
                <a:solidFill>
                  <a:srgbClr val="0596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1333500" y="119062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6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2095500" y="119062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15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2857500" y="119062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60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3619500" y="1190625"/>
              <a:ext cx="64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96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17.2%</a:t>
              </a:r>
              <a:endParaRPr b="1" sz="1500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0" y="1809750"/>
              <a:ext cx="4381500" cy="61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0" y="1809750"/>
              <a:ext cx="38100" cy="619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114300" y="1809750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Could-Have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D9770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DESIRABLE</a:t>
              </a:r>
              <a:endParaRPr b="0" sz="800">
                <a:solidFill>
                  <a:srgbClr val="D9770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1333500" y="180975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2095500" y="180975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2857500" y="1809750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3619500" y="1809750"/>
              <a:ext cx="64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9770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2.3%</a:t>
              </a:r>
              <a:endParaRPr b="1" sz="150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0" y="2428875"/>
              <a:ext cx="4381500" cy="619200"/>
            </a:xfrm>
            <a:prstGeom prst="rect">
              <a:avLst/>
            </a:prstGeom>
            <a:solidFill>
              <a:srgbClr val="F1F5F9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114300" y="2428875"/>
              <a:ext cx="1143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Phase 1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FULL BACKLOG</a:t>
              </a:r>
              <a:endParaRPr b="0" sz="800">
                <a:solidFill>
                  <a:srgbClr val="4755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1333500" y="242887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21</a:t>
              </a:r>
              <a:endParaRPr b="1" sz="18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6" name="Google Shape;236;p17"/>
            <p:cNvSpPr txBox="1"/>
            <p:nvPr/>
          </p:nvSpPr>
          <p:spPr>
            <a:xfrm>
              <a:off x="2095500" y="242887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87</a:t>
              </a:r>
              <a:endParaRPr b="1" sz="18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2857500" y="2428875"/>
              <a:ext cx="666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348</a:t>
              </a:r>
              <a:endParaRPr b="1" sz="18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8" name="Google Shape;238;p17"/>
            <p:cNvSpPr txBox="1"/>
            <p:nvPr/>
          </p:nvSpPr>
          <p:spPr>
            <a:xfrm>
              <a:off x="3619500" y="2428875"/>
              <a:ext cx="64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100%</a:t>
              </a:r>
              <a:endParaRPr b="1"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39" name="Google Shape;239;p17"/>
          <p:cNvGrpSpPr/>
          <p:nvPr/>
        </p:nvGrpSpPr>
        <p:grpSpPr>
          <a:xfrm>
            <a:off x="5048250" y="1143000"/>
            <a:ext cx="3714900" cy="3162450"/>
            <a:chOff x="0" y="0"/>
            <a:chExt cx="3714900" cy="3162450"/>
          </a:xfrm>
        </p:grpSpPr>
        <p:sp>
          <p:nvSpPr>
            <p:cNvPr id="240" name="Google Shape;240;p17"/>
            <p:cNvSpPr txBox="1"/>
            <p:nvPr/>
          </p:nvSpPr>
          <p:spPr>
            <a:xfrm>
              <a:off x="0" y="0"/>
              <a:ext cx="3714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Epic Coverage Distribution</a:t>
              </a:r>
              <a:endParaRPr b="0" sz="11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41" name="Google Shape;241;p17"/>
            <p:cNvGrpSpPr/>
            <p:nvPr/>
          </p:nvGrpSpPr>
          <p:grpSpPr>
            <a:xfrm>
              <a:off x="0" y="285750"/>
              <a:ext cx="3714900" cy="514500"/>
              <a:chOff x="0" y="0"/>
              <a:chExt cx="3714900" cy="514500"/>
            </a:xfrm>
          </p:grpSpPr>
          <p:sp>
            <p:nvSpPr>
              <p:cNvPr id="242" name="Google Shape;242;p17"/>
              <p:cNvSpPr/>
              <p:nvPr/>
            </p:nvSpPr>
            <p:spPr>
              <a:xfrm>
                <a:off x="0" y="0"/>
                <a:ext cx="3714900" cy="5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7"/>
              <p:cNvSpPr txBox="1"/>
              <p:nvPr/>
            </p:nvSpPr>
            <p:spPr>
              <a:xfrm>
                <a:off x="152400" y="76200"/>
                <a:ext cx="23814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Access &amp; Verification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Authentication &amp; Security Baseline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17"/>
              <p:cNvSpPr txBox="1"/>
              <p:nvPr/>
            </p:nvSpPr>
            <p:spPr>
              <a:xfrm>
                <a:off x="2571750" y="76200"/>
                <a:ext cx="99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US-01 to 04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Stories</a:t>
                </a:r>
                <a:endParaRPr b="0" sz="90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246" name="Google Shape;246;p17"/>
            <p:cNvGrpSpPr/>
            <p:nvPr/>
          </p:nvGrpSpPr>
          <p:grpSpPr>
            <a:xfrm>
              <a:off x="0" y="876300"/>
              <a:ext cx="3714900" cy="514500"/>
              <a:chOff x="0" y="0"/>
              <a:chExt cx="3714900" cy="514500"/>
            </a:xfrm>
          </p:grpSpPr>
          <p:sp>
            <p:nvSpPr>
              <p:cNvPr id="247" name="Google Shape;247;p17"/>
              <p:cNvSpPr/>
              <p:nvPr/>
            </p:nvSpPr>
            <p:spPr>
              <a:xfrm>
                <a:off x="0" y="0"/>
                <a:ext cx="3714900" cy="5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7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7"/>
              <p:cNvSpPr txBox="1"/>
              <p:nvPr/>
            </p:nvSpPr>
            <p:spPr>
              <a:xfrm>
                <a:off x="152400" y="76200"/>
                <a:ext cx="23814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Account Visibility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Balance &amp; Status Dashboards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17"/>
              <p:cNvSpPr txBox="1"/>
              <p:nvPr/>
            </p:nvSpPr>
            <p:spPr>
              <a:xfrm>
                <a:off x="2571750" y="76200"/>
                <a:ext cx="99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US-05 to 09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Stories</a:t>
                </a:r>
                <a:endParaRPr b="0" sz="90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251" name="Google Shape;251;p17"/>
            <p:cNvGrpSpPr/>
            <p:nvPr/>
          </p:nvGrpSpPr>
          <p:grpSpPr>
            <a:xfrm>
              <a:off x="0" y="1466850"/>
              <a:ext cx="3714900" cy="514500"/>
              <a:chOff x="0" y="0"/>
              <a:chExt cx="3714900" cy="514500"/>
            </a:xfrm>
          </p:grpSpPr>
          <p:sp>
            <p:nvSpPr>
              <p:cNvPr id="252" name="Google Shape;252;p17"/>
              <p:cNvSpPr/>
              <p:nvPr/>
            </p:nvSpPr>
            <p:spPr>
              <a:xfrm>
                <a:off x="0" y="0"/>
                <a:ext cx="3714900" cy="5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7"/>
              <p:cNvSpPr txBox="1"/>
              <p:nvPr/>
            </p:nvSpPr>
            <p:spPr>
              <a:xfrm>
                <a:off x="152400" y="76200"/>
                <a:ext cx="23814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P2P &amp; Payment Plans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Core Settlement Workflows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17"/>
              <p:cNvSpPr txBox="1"/>
              <p:nvPr/>
            </p:nvSpPr>
            <p:spPr>
              <a:xfrm>
                <a:off x="2571750" y="76200"/>
                <a:ext cx="99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US-10 to 13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Stories</a:t>
                </a:r>
                <a:endParaRPr b="0" sz="90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256" name="Google Shape;256;p17"/>
            <p:cNvGrpSpPr/>
            <p:nvPr/>
          </p:nvGrpSpPr>
          <p:grpSpPr>
            <a:xfrm>
              <a:off x="0" y="2057400"/>
              <a:ext cx="3714900" cy="514500"/>
              <a:chOff x="0" y="0"/>
              <a:chExt cx="3714900" cy="514500"/>
            </a:xfrm>
          </p:grpSpPr>
          <p:sp>
            <p:nvSpPr>
              <p:cNvPr id="257" name="Google Shape;257;p17"/>
              <p:cNvSpPr/>
              <p:nvPr/>
            </p:nvSpPr>
            <p:spPr>
              <a:xfrm>
                <a:off x="0" y="0"/>
                <a:ext cx="3714900" cy="5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7"/>
              <p:cNvSpPr txBox="1"/>
              <p:nvPr/>
            </p:nvSpPr>
            <p:spPr>
              <a:xfrm>
                <a:off x="152400" y="76200"/>
                <a:ext cx="23814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Exception Routing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Edge Cases &amp; Manual Review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17"/>
              <p:cNvSpPr txBox="1"/>
              <p:nvPr/>
            </p:nvSpPr>
            <p:spPr>
              <a:xfrm>
                <a:off x="2571750" y="76200"/>
                <a:ext cx="99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US-14 to 18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Stories</a:t>
                </a:r>
                <a:endParaRPr b="0" sz="90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261" name="Google Shape;261;p17"/>
            <p:cNvGrpSpPr/>
            <p:nvPr/>
          </p:nvGrpSpPr>
          <p:grpSpPr>
            <a:xfrm>
              <a:off x="0" y="2647950"/>
              <a:ext cx="3714900" cy="514500"/>
              <a:chOff x="0" y="0"/>
              <a:chExt cx="3714900" cy="514500"/>
            </a:xfrm>
          </p:grpSpPr>
          <p:sp>
            <p:nvSpPr>
              <p:cNvPr id="262" name="Google Shape;262;p17"/>
              <p:cNvSpPr/>
              <p:nvPr/>
            </p:nvSpPr>
            <p:spPr>
              <a:xfrm>
                <a:off x="0" y="0"/>
                <a:ext cx="3714900" cy="514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7"/>
              <p:cNvSpPr/>
              <p:nvPr/>
            </p:nvSpPr>
            <p:spPr>
              <a:xfrm>
                <a:off x="0" y="0"/>
                <a:ext cx="38100" cy="514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7"/>
              <p:cNvSpPr txBox="1"/>
              <p:nvPr/>
            </p:nvSpPr>
            <p:spPr>
              <a:xfrm>
                <a:off x="152400" y="76200"/>
                <a:ext cx="23814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Reporting &amp; Audit Trail</a:t>
                </a:r>
                <a:endParaRPr b="0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Compliance &amp; Analytics Export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17"/>
              <p:cNvSpPr txBox="1"/>
              <p:nvPr/>
            </p:nvSpPr>
            <p:spPr>
              <a:xfrm>
                <a:off x="2571750" y="76200"/>
                <a:ext cx="99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US-19 to 21</a:t>
                </a:r>
                <a:endParaRPr b="1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Stories</a:t>
                </a:r>
                <a:endParaRPr b="0" sz="90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1" name="Google Shape;271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2" name="Google Shape;272;p18"/>
            <p:cNvCxnSpPr/>
            <p:nvPr/>
          </p:nvCxnSpPr>
          <p:spPr>
            <a:xfrm>
              <a:off x="381000" y="571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3" name="Google Shape;273;p18"/>
            <p:cNvSpPr/>
            <p:nvPr/>
          </p:nvSpPr>
          <p:spPr>
            <a:xfrm>
              <a:off x="8610600" y="209550"/>
              <a:ext cx="152400" cy="152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 txBox="1"/>
            <p:nvPr/>
          </p:nvSpPr>
          <p:spPr>
            <a:xfrm>
              <a:off x="381000" y="190500"/>
              <a:ext cx="762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Dependencies &amp; System Ownership Matrix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381000" y="714375"/>
            <a:ext cx="8382000" cy="285900"/>
            <a:chOff x="0" y="0"/>
            <a:chExt cx="8382000" cy="285900"/>
          </a:xfrm>
        </p:grpSpPr>
        <p:sp>
          <p:nvSpPr>
            <p:cNvPr id="276" name="Google Shape;276;p18"/>
            <p:cNvSpPr/>
            <p:nvPr/>
          </p:nvSpPr>
          <p:spPr>
            <a:xfrm>
              <a:off x="0" y="0"/>
              <a:ext cx="8382000" cy="285900"/>
            </a:xfrm>
            <a:prstGeom prst="roundRect">
              <a:avLst>
                <a:gd fmla="val 666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152400" y="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DEPENDENCY &amp; SYSTEM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8" name="Google Shape;278;p18"/>
            <p:cNvSpPr txBox="1"/>
            <p:nvPr/>
          </p:nvSpPr>
          <p:spPr>
            <a:xfrm>
              <a:off x="2381250" y="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 / RISK STATUS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4476750" y="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SPECIFICATION / DESCRIPTION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80" name="Google Shape;280;p18"/>
          <p:cNvGrpSpPr/>
          <p:nvPr/>
        </p:nvGrpSpPr>
        <p:grpSpPr>
          <a:xfrm>
            <a:off x="381000" y="1095375"/>
            <a:ext cx="8382000" cy="857400"/>
            <a:chOff x="0" y="0"/>
            <a:chExt cx="8382000" cy="857400"/>
          </a:xfrm>
        </p:grpSpPr>
        <p:sp>
          <p:nvSpPr>
            <p:cNvPr id="281" name="Google Shape;281;p18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152400" y="114300"/>
              <a:ext cx="20955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DEP-01</a:t>
              </a:r>
              <a:endParaRPr b="1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DB REST API Wrapper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2381250" y="114300"/>
              <a:ext cx="1905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 TBC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9770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Delivery Risk #1</a:t>
              </a:r>
              <a:endParaRPr b="1" sz="80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4476750" y="114300"/>
              <a:ext cx="3714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Lightweight API wrapper providing read/write REST endpoints without database schema modifications.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18"/>
          <p:cNvGrpSpPr/>
          <p:nvPr/>
        </p:nvGrpSpPr>
        <p:grpSpPr>
          <a:xfrm>
            <a:off x="381000" y="2047875"/>
            <a:ext cx="8382000" cy="857400"/>
            <a:chOff x="0" y="0"/>
            <a:chExt cx="8382000" cy="857400"/>
          </a:xfrm>
        </p:grpSpPr>
        <p:sp>
          <p:nvSpPr>
            <p:cNvPr id="287" name="Google Shape;287;p18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8"/>
            <p:cNvSpPr txBox="1"/>
            <p:nvPr/>
          </p:nvSpPr>
          <p:spPr>
            <a:xfrm>
              <a:off x="152400" y="114300"/>
              <a:ext cx="20955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DEP-02</a:t>
              </a:r>
              <a:endParaRPr b="1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Payment Gateway Integration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0" name="Google Shape;290;p18"/>
            <p:cNvSpPr txBox="1"/>
            <p:nvPr/>
          </p:nvSpPr>
          <p:spPr>
            <a:xfrm>
              <a:off x="2381250" y="114300"/>
              <a:ext cx="1905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 TBC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9770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Delivery Risk #2</a:t>
              </a:r>
              <a:endParaRPr b="1" sz="80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91" name="Google Shape;291;p18"/>
            <p:cNvSpPr txBox="1"/>
            <p:nvPr/>
          </p:nvSpPr>
          <p:spPr>
            <a:xfrm>
              <a:off x="4476750" y="114300"/>
              <a:ext cx="3714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Enterprise PCI-compliant payment gateway for debit card processing and Direct Debit tokenization.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2" name="Google Shape;292;p18"/>
          <p:cNvGrpSpPr/>
          <p:nvPr/>
        </p:nvGrpSpPr>
        <p:grpSpPr>
          <a:xfrm>
            <a:off x="381000" y="3000375"/>
            <a:ext cx="8382000" cy="857400"/>
            <a:chOff x="0" y="0"/>
            <a:chExt cx="8382000" cy="85740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152400" y="114300"/>
              <a:ext cx="20955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DEP-03</a:t>
              </a:r>
              <a:endParaRPr b="1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Real-Time Ledger Status Flag Writing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6" name="Google Shape;296;p18"/>
            <p:cNvSpPr txBox="1"/>
            <p:nvPr/>
          </p:nvSpPr>
          <p:spPr>
            <a:xfrm>
              <a:off x="2381250" y="114300"/>
              <a:ext cx="1905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 TBC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9770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Delivery Risk #3</a:t>
              </a:r>
              <a:endParaRPr b="1" sz="80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97" name="Google Shape;297;p18"/>
            <p:cNvSpPr txBox="1"/>
            <p:nvPr/>
          </p:nvSpPr>
          <p:spPr>
            <a:xfrm>
              <a:off x="4476750" y="114300"/>
              <a:ext cx="3714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Asynchronous API parameter write-backs (dispute_flag = 1, ptp_active = 1) for manager observability.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8" name="Google Shape;298;p18"/>
          <p:cNvGrpSpPr/>
          <p:nvPr/>
        </p:nvGrpSpPr>
        <p:grpSpPr>
          <a:xfrm>
            <a:off x="381000" y="3952875"/>
            <a:ext cx="8382000" cy="857400"/>
            <a:chOff x="0" y="0"/>
            <a:chExt cx="8382000" cy="857400"/>
          </a:xfrm>
        </p:grpSpPr>
        <p:sp>
          <p:nvSpPr>
            <p:cNvPr id="299" name="Google Shape;299;p18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0" y="0"/>
              <a:ext cx="38100" cy="857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152400" y="114300"/>
              <a:ext cx="20955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DEP-04</a:t>
              </a:r>
              <a:endParaRPr b="1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Enterprise SMS / OTP Gateway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02" name="Google Shape;302;p18"/>
            <p:cNvSpPr txBox="1"/>
            <p:nvPr/>
          </p:nvSpPr>
          <p:spPr>
            <a:xfrm>
              <a:off x="2381250" y="114300"/>
              <a:ext cx="1905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 TBC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D9770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Delivery Risk #4</a:t>
              </a:r>
              <a:endParaRPr b="1" sz="80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4476750" y="114300"/>
              <a:ext cx="3714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Enterprise SMS gateway required for dynamic 6-digit 2FA authentication.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9" name="Google Shape;309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1" name="Google Shape;311;p19"/>
            <p:cNvGrpSpPr/>
            <p:nvPr/>
          </p:nvGrpSpPr>
          <p:grpSpPr>
            <a:xfrm>
              <a:off x="6381750" y="381000"/>
              <a:ext cx="2686200" cy="285900"/>
              <a:chOff x="0" y="0"/>
              <a:chExt cx="2686200" cy="285900"/>
            </a:xfrm>
          </p:grpSpPr>
          <p:sp>
            <p:nvSpPr>
              <p:cNvPr id="312" name="Google Shape;312;p19"/>
              <p:cNvSpPr/>
              <p:nvPr/>
            </p:nvSpPr>
            <p:spPr>
              <a:xfrm>
                <a:off x="0" y="19050"/>
                <a:ext cx="152400" cy="152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57150" y="76200"/>
                <a:ext cx="152400" cy="1524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 txBox="1"/>
              <p:nvPr/>
            </p:nvSpPr>
            <p:spPr>
              <a:xfrm>
                <a:off x="304800" y="0"/>
                <a:ext cx="2381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SMART-RECOVERY</a:t>
                </a:r>
                <a:endParaRPr b="1" sz="12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cxnSp>
          <p:nvCxnSpPr>
            <p:cNvPr id="315" name="Google Shape;315;p19"/>
            <p:cNvCxnSpPr/>
            <p:nvPr/>
          </p:nvCxnSpPr>
          <p:spPr>
            <a:xfrm>
              <a:off x="381000" y="95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F17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6" name="Google Shape;316;p19"/>
            <p:cNvGrpSpPr/>
            <p:nvPr/>
          </p:nvGrpSpPr>
          <p:grpSpPr>
            <a:xfrm>
              <a:off x="342900" y="914400"/>
              <a:ext cx="76200" cy="76200"/>
              <a:chOff x="-38100" y="-38100"/>
              <a:chExt cx="76200" cy="76200"/>
            </a:xfrm>
          </p:grpSpPr>
          <p:cxnSp>
            <p:nvCxnSpPr>
              <p:cNvPr id="317" name="Google Shape;317;p19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19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19" name="Google Shape;319;p19"/>
            <p:cNvGrpSpPr/>
            <p:nvPr/>
          </p:nvGrpSpPr>
          <p:grpSpPr>
            <a:xfrm>
              <a:off x="8724900" y="914400"/>
              <a:ext cx="76200" cy="76200"/>
              <a:chOff x="-38100" y="-38100"/>
              <a:chExt cx="76200" cy="76200"/>
            </a:xfrm>
          </p:grpSpPr>
          <p:cxnSp>
            <p:nvCxnSpPr>
              <p:cNvPr id="320" name="Google Shape;320;p19"/>
              <p:cNvCxnSpPr/>
              <p:nvPr/>
            </p:nvCxnSpPr>
            <p:spPr>
              <a:xfrm>
                <a:off x="-38100" y="0"/>
                <a:ext cx="762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19"/>
              <p:cNvCxnSpPr/>
              <p:nvPr/>
            </p:nvCxnSpPr>
            <p:spPr>
              <a:xfrm>
                <a:off x="0" y="-3810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22" name="Google Shape;322;p19"/>
            <p:cNvSpPr txBox="1"/>
            <p:nvPr/>
          </p:nvSpPr>
          <p:spPr>
            <a:xfrm>
              <a:off x="381000" y="381000"/>
              <a:ext cx="571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ADKAR Adoption Risks &amp; Designed Phase 1 Mitigations</a:t>
              </a:r>
              <a:endParaRPr b="1" sz="15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3" name="Google Shape;323;p19"/>
          <p:cNvGrpSpPr/>
          <p:nvPr/>
        </p:nvGrpSpPr>
        <p:grpSpPr>
          <a:xfrm>
            <a:off x="381000" y="1238250"/>
            <a:ext cx="2600400" cy="3429000"/>
            <a:chOff x="0" y="0"/>
            <a:chExt cx="2600400" cy="3429000"/>
          </a:xfrm>
        </p:grpSpPr>
        <p:sp>
          <p:nvSpPr>
            <p:cNvPr id="324" name="Google Shape;324;p19"/>
            <p:cNvSpPr/>
            <p:nvPr/>
          </p:nvSpPr>
          <p:spPr>
            <a:xfrm>
              <a:off x="0" y="0"/>
              <a:ext cx="2600400" cy="304800"/>
            </a:xfrm>
            <a:prstGeom prst="roundRect">
              <a:avLst>
                <a:gd fmla="val 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 txBox="1"/>
            <p:nvPr/>
          </p:nvSpPr>
          <p:spPr>
            <a:xfrm>
              <a:off x="114300" y="0"/>
              <a:ext cx="23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FRONTLINE REPS</a:t>
              </a:r>
              <a:endParaRPr b="0" sz="10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0" y="381000"/>
              <a:ext cx="2600400" cy="952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0" y="381000"/>
              <a:ext cx="38100" cy="952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152400" y="457200"/>
              <a:ext cx="2295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9770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RISK: SYSTEM BYPASS</a:t>
              </a:r>
              <a:endParaRPr b="0" sz="1000">
                <a:solidFill>
                  <a:srgbClr val="D9770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Users bypass core system workflows, preferring manual legacy workarounds.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29" name="Google Shape;32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875" y="1409700"/>
              <a:ext cx="19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19"/>
            <p:cNvSpPr/>
            <p:nvPr/>
          </p:nvSpPr>
          <p:spPr>
            <a:xfrm>
              <a:off x="0" y="1600200"/>
              <a:ext cx="2600400" cy="1828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0" y="1600200"/>
              <a:ext cx="38100" cy="1828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 txBox="1"/>
            <p:nvPr/>
          </p:nvSpPr>
          <p:spPr>
            <a:xfrm>
              <a:off x="152400" y="1714500"/>
              <a:ext cx="22956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PHASE 1 MITIGATION</a:t>
              </a:r>
              <a:endParaRPr b="0" sz="1000">
                <a:solidFill>
                  <a:srgbClr val="0596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 Interaction History Workspace (US-07):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Unified single-pane workspace.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Eliminates Manual Re-keying: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Saves </a:t>
              </a:r>
              <a:r>
                <a:rPr b="1" lang="en" sz="1100">
                  <a:solidFill>
                    <a:srgbClr val="0596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2.86 hrs/day/rep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by removing spreadsheet redundancy.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3" name="Google Shape;333;p19"/>
          <p:cNvGrpSpPr/>
          <p:nvPr/>
        </p:nvGrpSpPr>
        <p:grpSpPr>
          <a:xfrm>
            <a:off x="3267075" y="1238250"/>
            <a:ext cx="2600400" cy="3429000"/>
            <a:chOff x="0" y="0"/>
            <a:chExt cx="2600400" cy="3429000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2600400" cy="304800"/>
            </a:xfrm>
            <a:prstGeom prst="roundRect">
              <a:avLst>
                <a:gd fmla="val 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9"/>
            <p:cNvSpPr txBox="1"/>
            <p:nvPr/>
          </p:nvSpPr>
          <p:spPr>
            <a:xfrm>
              <a:off x="114300" y="0"/>
              <a:ext cx="23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DELINQUENT CUSTOMERS</a:t>
              </a:r>
              <a:endParaRPr b="0" sz="10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0" y="381000"/>
              <a:ext cx="2600400" cy="952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0" y="381000"/>
              <a:ext cx="38100" cy="952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152400" y="457200"/>
              <a:ext cx="2295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9770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RISK: BRITTLE UX ABANDONMENT</a:t>
              </a:r>
              <a:endParaRPr b="0" sz="1000">
                <a:solidFill>
                  <a:srgbClr val="D9770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Complex portal authentication and payment flows drive high drop-off rates.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39" name="Google Shape;33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875" y="1409700"/>
              <a:ext cx="19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9"/>
            <p:cNvSpPr/>
            <p:nvPr/>
          </p:nvSpPr>
          <p:spPr>
            <a:xfrm>
              <a:off x="0" y="1600200"/>
              <a:ext cx="2600400" cy="1828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0" y="1600200"/>
              <a:ext cx="38100" cy="1828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 txBox="1"/>
            <p:nvPr/>
          </p:nvSpPr>
          <p:spPr>
            <a:xfrm>
              <a:off x="152400" y="1714500"/>
              <a:ext cx="22956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596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PHASE 1 MITIGATION</a:t>
              </a:r>
              <a:endParaRPr b="0" sz="925">
                <a:solidFill>
                  <a:srgbClr val="0596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Frictionless 2FA Login (US-01):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Streamlined identity verification.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 Pre-Calculated Installments (US-10):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Simplified self-service resolution options.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0833" lvl="0" marL="457200" rtl="0" algn="l">
                <a:spcBef>
                  <a:spcPts val="450"/>
                </a:spcBef>
                <a:spcAft>
                  <a:spcPts val="0"/>
                </a:spcAft>
                <a:buSzPts val="1295"/>
                <a:buChar char="●"/>
              </a:pPr>
              <a:r>
                <a:rPr b="0" lang="en" sz="9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60-s SMS Dispatches (US-13):</a:t>
              </a: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Instant automated confirmations.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3" name="Google Shape;343;p19"/>
          <p:cNvGrpSpPr/>
          <p:nvPr/>
        </p:nvGrpSpPr>
        <p:grpSpPr>
          <a:xfrm>
            <a:off x="6162675" y="1238250"/>
            <a:ext cx="2600400" cy="3429000"/>
            <a:chOff x="0" y="0"/>
            <a:chExt cx="2600400" cy="3429000"/>
          </a:xfrm>
        </p:grpSpPr>
        <p:sp>
          <p:nvSpPr>
            <p:cNvPr id="344" name="Google Shape;344;p19"/>
            <p:cNvSpPr/>
            <p:nvPr/>
          </p:nvSpPr>
          <p:spPr>
            <a:xfrm>
              <a:off x="0" y="0"/>
              <a:ext cx="2600400" cy="304800"/>
            </a:xfrm>
            <a:prstGeom prst="roundRect">
              <a:avLst>
                <a:gd fmla="val 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9"/>
            <p:cNvSpPr txBox="1"/>
            <p:nvPr/>
          </p:nvSpPr>
          <p:spPr>
            <a:xfrm>
              <a:off x="114300" y="0"/>
              <a:ext cx="2371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OPERATIONS LEADERSHIP</a:t>
              </a:r>
              <a:endParaRPr b="0" sz="10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0" y="381000"/>
              <a:ext cx="2600400" cy="952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381000"/>
              <a:ext cx="38100" cy="952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152400" y="457200"/>
              <a:ext cx="2295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97706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RISK: OBSERVABILITY GAP</a:t>
              </a:r>
              <a:endParaRPr b="0" sz="1000">
                <a:solidFill>
                  <a:srgbClr val="D97706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Lack of real-time operational oversight across core settlement ledgers.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49" name="Google Shape;34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875" y="1409700"/>
              <a:ext cx="19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9"/>
            <p:cNvSpPr/>
            <p:nvPr/>
          </p:nvSpPr>
          <p:spPr>
            <a:xfrm>
              <a:off x="0" y="1600200"/>
              <a:ext cx="2600400" cy="1828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1600200"/>
              <a:ext cx="38100" cy="1828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9"/>
            <p:cNvSpPr txBox="1"/>
            <p:nvPr/>
          </p:nvSpPr>
          <p:spPr>
            <a:xfrm>
              <a:off x="152400" y="1714500"/>
              <a:ext cx="22956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59669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PHASE 1 MITIGATION</a:t>
              </a:r>
              <a:endParaRPr b="0" sz="1000">
                <a:solidFill>
                  <a:srgbClr val="05966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Real-Time Core Ledger Flags (DEP-03):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Immediate status updates on transaction states.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TL Manager Dashboards (US-23):</a:t>
              </a: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Dedicated observability suite for team leads.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